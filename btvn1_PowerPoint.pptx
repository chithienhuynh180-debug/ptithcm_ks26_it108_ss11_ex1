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Doanh thu (tỷ VND)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3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T01</c:v>
                  </c:pt>
                  <c:pt idx="1">
                    <c:v>T02</c:v>
                  </c:pt>
                  <c:pt idx="2">
                    <c:v>T03</c:v>
                  </c:pt>
                  <c:pt idx="3">
                    <c:v>T04</c:v>
                  </c:pt>
                  <c:pt idx="4">
                    <c:v>T05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7.28</c:v>
                </c:pt>
                <c:pt idx="1">
                  <c:v>8.01</c:v>
                </c:pt>
                <c:pt idx="2">
                  <c:v>9.36</c:v>
                </c:pt>
                <c:pt idx="3">
                  <c:v>10.5</c:v>
                </c:pt>
                <c:pt idx="4">
                  <c:v>12.45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3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3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3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Cơ cấu chi phí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bubble3D val="0"/>
            <c:spPr>
              <a:solidFill>
                <a:srgbClr val="7C3AED"/>
              </a:solidFill>
              <a:effectLst/>
            </c:spPr>
          </c:dPt>
          <c:dPt>
            <c:idx val="3"/>
            <c:bubble3D val="0"/>
            <c:spPr>
              <a:solidFill>
                <a:srgbClr val="FACC1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3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3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3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3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Phí đối tác</c:v>
                </c:pt>
                <c:pt idx="1">
                  <c:v>Vận hành</c:v>
                </c:pt>
                <c:pt idx="2">
                  <c:v>Marketing</c:v>
                </c:pt>
                <c:pt idx="3">
                  <c:v>Khác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46</c:v>
                </c:pt>
                <c:pt idx="1">
                  <c:v>28</c:v>
                </c:pt>
                <c:pt idx="2">
                  <c:v>16</c:v>
                </c:pt>
                <c:pt idx="3">
                  <c:v>10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30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T4/2024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3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LN gộp</c:v>
                  </c:pt>
                  <c:pt idx="1">
                    <c:v>LN sau thuế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4.06</c:v>
                </c:pt>
                <c:pt idx="1">
                  <c:v>2.2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T5/2024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3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LN gộp</c:v>
                  </c:pt>
                  <c:pt idx="1">
                    <c:v>LN sau thuế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5.17</c:v>
                </c:pt>
                <c:pt idx="1">
                  <c:v>2.89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3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3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3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30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Tổng phí (triệu VND)</c:v>
                </c:pt>
              </c:strCache>
            </c:strRef>
          </c:tx>
          <c:spPr>
            <a:solidFill>
              <a:srgbClr val="EA580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3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MBB</c:v>
                  </c:pt>
                  <c:pt idx="1">
                    <c:v>TCB</c:v>
                  </c:pt>
                  <c:pt idx="2">
                    <c:v>CTG</c:v>
                  </c:pt>
                  <c:pt idx="3">
                    <c:v>BIDV</c:v>
                  </c:pt>
                  <c:pt idx="4">
                    <c:v>VCB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10.61</c:v>
                </c:pt>
                <c:pt idx="1">
                  <c:v>10.63</c:v>
                </c:pt>
                <c:pt idx="2">
                  <c:v>12.78</c:v>
                </c:pt>
                <c:pt idx="3">
                  <c:v>15.6</c:v>
                </c:pt>
                <c:pt idx="4">
                  <c:v>21.29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3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3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3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10698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PayKX lãi sau thuế 2,89 tỷ đồng, tăng 31,2% nhờ doanh thu tăng và chi phí được kiểm soát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lỗ lãi tháng 05/2024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Doanh thu thuần đạt 12,45 tỷ đồng, tăng 18,6% so với tháng 4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828800"/>
          <a:ext cx="74980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412480" y="274320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12,45 tỷ</a:t>
            </a:r>
            <a:endParaRPr lang="en-US" sz="54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+18,6% so với T4</a:t>
            </a:r>
            <a:endParaRPr lang="en-US" sz="5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Phí đối tác ngân hàng chiếm 46% chi phí, là khoản cần tối ưu nhất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828800"/>
          <a:ext cx="78638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595360" y="256032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chi phí</a:t>
            </a:r>
            <a:endParaRPr lang="en-US" sz="3000" dirty="0"/>
          </a:p>
          <a:p>
            <a:pPr indent="0" marL="0">
              <a:buNone/>
            </a:pPr>
            <a:r>
              <a:rPr lang="en-US" sz="4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7,28 tỷ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+12,1% so với T4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Lợi nhuận gộp tăng 27,4% và lợi nhuận sau thuế tăng 31,2% so với tháng 4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828800"/>
          <a:ext cx="78638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686800" y="2194560"/>
            <a:ext cx="3200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+27,4%</a:t>
            </a:r>
            <a:endParaRPr lang="en-US" sz="4400" dirty="0"/>
          </a:p>
          <a:p>
            <a:pPr indent="0" marL="0">
              <a:buNone/>
            </a:pPr>
            <a:r>
              <a:rPr lang="en-US" sz="3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lợi nhuận gộp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+31,2%</a:t>
            </a:r>
            <a:endParaRPr lang="en-US" sz="4400" dirty="0"/>
          </a:p>
          <a:p>
            <a:pPr indent="0" marL="0">
              <a:buNone/>
            </a:pPr>
            <a:r>
              <a:rPr lang="en-US" sz="3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thuế</a:t>
            </a:r>
            <a:endParaRPr lang="en-US" sz="4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Vietcombank chiếm gần 21% trong tổng 103,28 triệu đồng phí đối tác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828800"/>
          <a:ext cx="110642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giữ đà tăng doanh thu và đàm phán giảm phí đối tác để lợi nhuận bứt phá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3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Doanh thu thuần tăng 18,6%</a:t>
            </a:r>
            <a:endParaRPr lang="en-US" sz="34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3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phí chỉ tăng 12,1%</a:t>
            </a:r>
            <a:endParaRPr lang="en-US" sz="34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3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Đàm phán lại phí với đối tác ngân hàng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2026-10-26T08:56:33Z</dcterms:created>
  <dcterms:modified xsi:type="dcterms:W3CDTF">2026-10-26T08:56:33Z</dcterms:modified>
</cp:coreProperties>
</file>